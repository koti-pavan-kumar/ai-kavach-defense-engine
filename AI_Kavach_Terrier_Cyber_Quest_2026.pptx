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7904" y="0"/>
            <a:ext cx="0" cy="6858000"/>
          </a:xfrm>
          <a:prstGeom prst="line">
            <a:avLst/>
          </a:prstGeom>
          <a:noFill/>
          <a:ln w="9525">
            <a:solidFill>
              <a:srgbClr val="1622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35808" y="0"/>
            <a:ext cx="0" cy="6858000"/>
          </a:xfrm>
          <a:prstGeom prst="line">
            <a:avLst/>
          </a:prstGeom>
          <a:noFill/>
          <a:ln w="9525">
            <a:solidFill>
              <a:srgbClr val="1622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53712" y="0"/>
            <a:ext cx="0" cy="6858000"/>
          </a:xfrm>
          <a:prstGeom prst="line">
            <a:avLst/>
          </a:prstGeom>
          <a:noFill/>
          <a:ln w="9525">
            <a:solidFill>
              <a:srgbClr val="162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71616" y="0"/>
            <a:ext cx="0" cy="6858000"/>
          </a:xfrm>
          <a:prstGeom prst="line">
            <a:avLst/>
          </a:prstGeom>
          <a:noFill/>
          <a:ln w="9525">
            <a:solidFill>
              <a:srgbClr val="1622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9525">
            <a:solidFill>
              <a:srgbClr val="1622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07424" y="0"/>
            <a:ext cx="0" cy="6858000"/>
          </a:xfrm>
          <a:prstGeom prst="line">
            <a:avLst/>
          </a:prstGeom>
          <a:noFill/>
          <a:ln w="9525">
            <a:solidFill>
              <a:srgbClr val="1622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25328" y="0"/>
            <a:ext cx="0" cy="6858000"/>
          </a:xfrm>
          <a:prstGeom prst="line">
            <a:avLst/>
          </a:prstGeom>
          <a:noFill/>
          <a:ln w="9525">
            <a:solidFill>
              <a:srgbClr val="1622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TERRIER CYBER QUEST 2026  •  AI KAVACH TRACK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914400"/>
            <a:ext cx="868680" cy="86868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11" name="Image 0" descr="/home/claude/aikavach/shie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088136"/>
            <a:ext cx="521208" cy="5212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86868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KAVACH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1600200" y="150876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Air-Gapped Autonomous Cyber Reasoning &amp; Remediation Engine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600200" y="1883664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1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Zero-Day Detection &amp; Verified Auto-Patching for Tactical Defense Systems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395728"/>
            <a:ext cx="11064240" cy="0"/>
          </a:xfrm>
          <a:prstGeom prst="line">
            <a:avLst/>
          </a:prstGeom>
          <a:noFill/>
          <a:ln w="12700">
            <a:solidFill>
              <a:srgbClr val="1F2E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65176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162230"/>
          </a:solidFill>
        </p:spPr>
      </p:sp>
      <p:sp>
        <p:nvSpPr>
          <p:cNvPr id="17" name="Shape 14"/>
          <p:cNvSpPr/>
          <p:nvPr/>
        </p:nvSpPr>
        <p:spPr>
          <a:xfrm>
            <a:off x="868680" y="2971800"/>
            <a:ext cx="502920" cy="502920"/>
          </a:xfrm>
          <a:prstGeom prst="ellipse">
            <a:avLst/>
          </a:prstGeom>
          <a:solidFill>
            <a:srgbClr val="8A3A3A"/>
          </a:solidFill>
        </p:spPr>
      </p:sp>
      <p:pic>
        <p:nvPicPr>
          <p:cNvPr id="18" name="Image 1" descr="/home/claude/aikavach/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37" y="3084957"/>
            <a:ext cx="276606" cy="27660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08760" y="29992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68680" y="3611880"/>
            <a:ext cx="470916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Mission-critical defense networks run C/C++ tactical software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corruption bugs: Buffer Overflows, Pointer Dereferences, Format Strings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auditing &amp; patching takes days-to-weeks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high-risk exploit windows on live systems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035040" y="265176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162230"/>
          </a:solidFill>
        </p:spPr>
      </p:sp>
      <p:sp>
        <p:nvSpPr>
          <p:cNvPr id="22" name="Shape 18"/>
          <p:cNvSpPr/>
          <p:nvPr/>
        </p:nvSpPr>
        <p:spPr>
          <a:xfrm>
            <a:off x="6355080" y="2971800"/>
            <a:ext cx="502920" cy="50292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23" name="Image 2" descr="/home/claude/aikavach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237" y="3084957"/>
            <a:ext cx="276606" cy="27660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95160" y="2999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Idea &amp; Motivation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355080" y="3611880"/>
            <a:ext cx="502920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offline cyber-reasoning engine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Ingests source code &amp; identifies CWE flaws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secure repairs, verifies compiler pass rate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internet connectivity required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355080" y="5349240"/>
            <a:ext cx="5029200" cy="0"/>
          </a:xfrm>
          <a:prstGeom prst="line">
            <a:avLst/>
          </a:prstGeom>
          <a:noFill/>
          <a:ln w="12700">
            <a:solidFill>
              <a:srgbClr val="1F2E3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55080" y="5486400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BRIEF DESCRIPTION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355080" y="5742432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3A1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Lightweight, edge-deployable pipeline using quantized local Code-LLMs (Qwen2.5-Coder-7B) — remediation in sub-4-second execution loops.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1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DETAILED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Four-Stage Autonomous Remediation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162230"/>
          </a:solidFill>
        </p:spPr>
      </p:sp>
      <p:sp>
        <p:nvSpPr>
          <p:cNvPr id="5" name="Text 3"/>
          <p:cNvSpPr/>
          <p:nvPr/>
        </p:nvSpPr>
        <p:spPr>
          <a:xfrm>
            <a:off x="640080" y="155448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E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49808" y="2167128"/>
            <a:ext cx="566928" cy="566928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7" name="Image 0" descr="/home/claude/aikavach/se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367" y="2294687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926080"/>
            <a:ext cx="2249424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Static Code Telemetry &amp; AST Parsing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3867912"/>
            <a:ext cx="2249424" cy="1938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Ingest C/C++ source code directly from tactical repository hooks or isolated edge environments.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82112" y="3429000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429000" y="150876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162230"/>
          </a:solidFill>
        </p:spPr>
      </p:sp>
      <p:sp>
        <p:nvSpPr>
          <p:cNvPr id="12" name="Text 9"/>
          <p:cNvSpPr/>
          <p:nvPr/>
        </p:nvSpPr>
        <p:spPr>
          <a:xfrm>
            <a:off x="3520440" y="155448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E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3630168" y="2167128"/>
            <a:ext cx="566928" cy="566928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14" name="Image 1" descr="/home/claude/aikavach/c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727" y="2294687"/>
            <a:ext cx="311810" cy="31181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0168" y="2926080"/>
            <a:ext cx="2249424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Air-Gapped Reasoning Engine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30168" y="3867912"/>
            <a:ext cx="2249424" cy="1938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 code structures to a local quantized LLM (Qwen2.5-Coder-7B) hosted via Ollama on an NVIDIA RTX 4060 Ti GPU.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062472" y="3429000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6309360" y="150876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162230"/>
          </a:solidFill>
        </p:spPr>
      </p:sp>
      <p:sp>
        <p:nvSpPr>
          <p:cNvPr id="19" name="Text 15"/>
          <p:cNvSpPr/>
          <p:nvPr/>
        </p:nvSpPr>
        <p:spPr>
          <a:xfrm>
            <a:off x="6400800" y="155448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E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Shape 16"/>
          <p:cNvSpPr/>
          <p:nvPr/>
        </p:nvSpPr>
        <p:spPr>
          <a:xfrm>
            <a:off x="6510528" y="2167128"/>
            <a:ext cx="566928" cy="566928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21" name="Image 2" descr="/home/claude/aikavach/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087" y="2294687"/>
            <a:ext cx="311810" cy="31181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10528" y="2926080"/>
            <a:ext cx="2249424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Structured CWE Classification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10528" y="3867912"/>
            <a:ext cx="2249424" cy="1938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vulnerabilities to exact CWE IDs (CWE-120, CWE-476, CWE-134), assign severity, and draft precise diff patches.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942832" y="3429000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9189720" y="1508760"/>
            <a:ext cx="2651760" cy="4480560"/>
          </a:xfrm>
          <a:prstGeom prst="roundRect">
            <a:avLst>
              <a:gd name="adj" fmla="val 2759"/>
            </a:avLst>
          </a:prstGeom>
          <a:solidFill>
            <a:srgbClr val="162230"/>
          </a:solidFill>
        </p:spPr>
      </p:sp>
      <p:sp>
        <p:nvSpPr>
          <p:cNvPr id="26" name="Text 21"/>
          <p:cNvSpPr/>
          <p:nvPr/>
        </p:nvSpPr>
        <p:spPr>
          <a:xfrm>
            <a:off x="9281160" y="155448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E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3400" dirty="0"/>
          </a:p>
        </p:txBody>
      </p:sp>
      <p:sp>
        <p:nvSpPr>
          <p:cNvPr id="27" name="Shape 22"/>
          <p:cNvSpPr/>
          <p:nvPr/>
        </p:nvSpPr>
        <p:spPr>
          <a:xfrm>
            <a:off x="9390888" y="2167128"/>
            <a:ext cx="566928" cy="566928"/>
          </a:xfrm>
          <a:prstGeom prst="ellipse">
            <a:avLst/>
          </a:prstGeom>
          <a:solidFill>
            <a:srgbClr val="B8960A"/>
          </a:solidFill>
        </p:spPr>
      </p:sp>
      <p:pic>
        <p:nvPicPr>
          <p:cNvPr id="28" name="Image 3" descr="/home/claude/aikavach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447" y="2294687"/>
            <a:ext cx="311810" cy="31181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90888" y="2926080"/>
            <a:ext cx="2249424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Closed-Loop Compiler Verification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390888" y="3867912"/>
            <a:ext cx="2249424" cy="1938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 a local GCC build sandbox to guarantee zero syntax or compilation failures before deployment.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1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 &amp;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Stack &amp; 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3A1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EQUIPMENT &amp; TOOLS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162230"/>
          </a:solidFill>
        </p:spPr>
      </p:sp>
      <p:sp>
        <p:nvSpPr>
          <p:cNvPr id="6" name="Shape 4"/>
          <p:cNvSpPr/>
          <p:nvPr/>
        </p:nvSpPr>
        <p:spPr>
          <a:xfrm>
            <a:off x="731520" y="1897380"/>
            <a:ext cx="457200" cy="45720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7" name="Image 0" descr="/home/claude/aikavach/cp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0002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81051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Air-Gapped AI Model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53312" y="21031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Qwen2.5-Coder-7B (4-bit GGML Quantization via Ollama)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162230"/>
          </a:solidFill>
        </p:spPr>
      </p:sp>
      <p:sp>
        <p:nvSpPr>
          <p:cNvPr id="11" name="Shape 8"/>
          <p:cNvSpPr/>
          <p:nvPr/>
        </p:nvSpPr>
        <p:spPr>
          <a:xfrm>
            <a:off x="6355080" y="1897380"/>
            <a:ext cx="457200" cy="45720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12" name="Image 1" descr="/home/claude/aikavach/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20002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76872" y="181051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Edge Hardware Workstation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976872" y="21031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RTX 4060 Ti (16GB VRAM), Intel Core i7, 16GB RAM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274320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162230"/>
          </a:solidFill>
        </p:spPr>
      </p:sp>
      <p:sp>
        <p:nvSpPr>
          <p:cNvPr id="16" name="Shape 12"/>
          <p:cNvSpPr/>
          <p:nvPr/>
        </p:nvSpPr>
        <p:spPr>
          <a:xfrm>
            <a:off x="731520" y="2948940"/>
            <a:ext cx="457200" cy="45720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17" name="Image 2" descr="/home/claude/aikavach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05181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286207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Compiler Verification Sandbox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353312" y="31546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GCC — C/C++ Build Tooling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72200" y="2743200"/>
            <a:ext cx="5440680" cy="868680"/>
          </a:xfrm>
          <a:prstGeom prst="roundRect">
            <a:avLst>
              <a:gd name="adj" fmla="val 7368"/>
            </a:avLst>
          </a:prstGeom>
          <a:solidFill>
            <a:srgbClr val="162230"/>
          </a:solidFill>
        </p:spPr>
      </p:sp>
      <p:sp>
        <p:nvSpPr>
          <p:cNvPr id="21" name="Shape 16"/>
          <p:cNvSpPr/>
          <p:nvPr/>
        </p:nvSpPr>
        <p:spPr>
          <a:xfrm>
            <a:off x="6355080" y="2948940"/>
            <a:ext cx="457200" cy="45720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22" name="Image 3" descr="/home/claude/aikavach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305181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76872" y="286207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Orchestration Scripting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976872" y="31546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3.10 AST Parser &amp; Subprocess Build Engine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3A1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 — HORIZONTAL DATA FLOW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142232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62230"/>
          </a:solidFill>
        </p:spPr>
      </p:sp>
      <p:sp>
        <p:nvSpPr>
          <p:cNvPr id="27" name="Shape 21"/>
          <p:cNvSpPr/>
          <p:nvPr/>
        </p:nvSpPr>
        <p:spPr>
          <a:xfrm>
            <a:off x="1415796" y="4526280"/>
            <a:ext cx="566928" cy="566928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28" name="Image 4" descr="/home/claude/aikavach/file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355" y="4653839"/>
            <a:ext cx="311810" cy="31181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8680" y="5230368"/>
            <a:ext cx="1661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Tactical C/C++ Code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2356104" y="4645152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➜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3168396" y="4526280"/>
            <a:ext cx="566928" cy="566928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32" name="Image 5" descr="/home/claude/aikavach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5955" y="4653839"/>
            <a:ext cx="311810" cy="31181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621280" y="5230368"/>
            <a:ext cx="1661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 Parser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108704" y="4645152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➜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4920996" y="4526280"/>
            <a:ext cx="566928" cy="566928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36" name="Image 6" descr="/home/claude/aikavach/cp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555" y="4653839"/>
            <a:ext cx="311810" cy="31181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373880" y="5230368"/>
            <a:ext cx="1661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Ollama Engine (RTX 4060 Ti VRAM)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5861304" y="4645152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➜</a:t>
            </a:r>
            <a:endParaRPr lang="en-US" sz="1600" dirty="0"/>
          </a:p>
        </p:txBody>
      </p:sp>
      <p:sp>
        <p:nvSpPr>
          <p:cNvPr id="39" name="Shape 30"/>
          <p:cNvSpPr/>
          <p:nvPr/>
        </p:nvSpPr>
        <p:spPr>
          <a:xfrm>
            <a:off x="6673596" y="4526280"/>
            <a:ext cx="566928" cy="566928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40" name="Image 7" descr="/home/claude/aikavach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155" y="4653839"/>
            <a:ext cx="311810" cy="31181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126480" y="5230368"/>
            <a:ext cx="1661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 Extraction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7613904" y="4645152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➜</a:t>
            </a:r>
            <a:endParaRPr lang="en-US" sz="1600" dirty="0"/>
          </a:p>
        </p:txBody>
      </p:sp>
      <p:sp>
        <p:nvSpPr>
          <p:cNvPr id="43" name="Shape 33"/>
          <p:cNvSpPr/>
          <p:nvPr/>
        </p:nvSpPr>
        <p:spPr>
          <a:xfrm>
            <a:off x="8426196" y="4526280"/>
            <a:ext cx="566928" cy="566928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44" name="Image 8" descr="/home/claude/aikavach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755" y="4653839"/>
            <a:ext cx="311810" cy="31181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879080" y="5230368"/>
            <a:ext cx="1661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GCC Sandbox Verification</a:t>
            </a:r>
            <a:endParaRPr lang="en-US" sz="1050" dirty="0"/>
          </a:p>
        </p:txBody>
      </p:sp>
      <p:sp>
        <p:nvSpPr>
          <p:cNvPr id="46" name="Text 35"/>
          <p:cNvSpPr/>
          <p:nvPr/>
        </p:nvSpPr>
        <p:spPr>
          <a:xfrm>
            <a:off x="9366504" y="4645152"/>
            <a:ext cx="43891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➜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10178796" y="4526280"/>
            <a:ext cx="566928" cy="566928"/>
          </a:xfrm>
          <a:prstGeom prst="ellipse">
            <a:avLst/>
          </a:prstGeom>
          <a:solidFill>
            <a:srgbClr val="B8960A"/>
          </a:solidFill>
        </p:spPr>
      </p:sp>
      <p:pic>
        <p:nvPicPr>
          <p:cNvPr id="48" name="Image 9" descr="/home/claude/aikavach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6355" y="4653839"/>
            <a:ext cx="311810" cy="31181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9631680" y="5230368"/>
            <a:ext cx="1661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 Verified Binary</a:t>
            </a:r>
            <a:endParaRPr lang="en-US" sz="1050" dirty="0"/>
          </a:p>
        </p:txBody>
      </p:sp>
      <p:sp>
        <p:nvSpPr>
          <p:cNvPr id="50" name="Text 3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1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SALIENT FEATURES &amp; EXPERIMENTAL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Salient Features &amp; Experimental Validation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230"/>
          </a:solidFill>
        </p:spPr>
      </p:sp>
      <p:sp>
        <p:nvSpPr>
          <p:cNvPr id="5" name="Shape 3"/>
          <p:cNvSpPr/>
          <p:nvPr/>
        </p:nvSpPr>
        <p:spPr>
          <a:xfrm>
            <a:off x="749808" y="1371600"/>
            <a:ext cx="457200" cy="45720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6" name="Image 0" descr="/home/claude/aikavach/lo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14744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94767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 Air-Gapped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86000"/>
            <a:ext cx="2249424" cy="393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WAN bandwidth. No cloud API dependency — absolute confidentiality of defense source code.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3429000" y="117043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230"/>
          </a:solidFill>
        </p:spPr>
      </p:sp>
      <p:sp>
        <p:nvSpPr>
          <p:cNvPr id="10" name="Shape 7"/>
          <p:cNvSpPr/>
          <p:nvPr/>
        </p:nvSpPr>
        <p:spPr>
          <a:xfrm>
            <a:off x="3630168" y="1371600"/>
            <a:ext cx="457200" cy="45720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11" name="Image 1" descr="/home/claude/aikavach/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038" y="14744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0168" y="194767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Sub-4-Second Remediation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30168" y="2286000"/>
            <a:ext cx="2249424" cy="393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vulnerability triage and repair at a measured latency of 3,427.13 ms.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6309360" y="117043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230"/>
          </a:solidFill>
        </p:spPr>
      </p:sp>
      <p:sp>
        <p:nvSpPr>
          <p:cNvPr id="15" name="Shape 11"/>
          <p:cNvSpPr/>
          <p:nvPr/>
        </p:nvSpPr>
        <p:spPr>
          <a:xfrm>
            <a:off x="6510528" y="1371600"/>
            <a:ext cx="457200" cy="45720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16" name="Image 2" descr="/home/claude/aikavach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98" y="147447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0528" y="194767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Self-Healing Verification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510528" y="2286000"/>
            <a:ext cx="2249424" cy="393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Eliminates AI hallucination risk via a local compiler pass/fail loop on every patch.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9189720" y="1170432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62230"/>
          </a:solidFill>
        </p:spPr>
      </p:sp>
      <p:sp>
        <p:nvSpPr>
          <p:cNvPr id="20" name="Shape 15"/>
          <p:cNvSpPr/>
          <p:nvPr/>
        </p:nvSpPr>
        <p:spPr>
          <a:xfrm>
            <a:off x="9390888" y="1371600"/>
            <a:ext cx="457200" cy="45720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21" name="Image 3" descr="/home/claude/aikavach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3758" y="14744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90888" y="1947672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Lightweight Footprint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390888" y="2286000"/>
            <a:ext cx="2249424" cy="3931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7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on standard consumer-grade tactical GPUs (16GB VRAM) — no datacenter needed.</a:t>
            </a:r>
            <a:endParaRPr lang="en-US" sz="970" dirty="0"/>
          </a:p>
        </p:txBody>
      </p:sp>
      <p:sp>
        <p:nvSpPr>
          <p:cNvPr id="24" name="Text 18"/>
          <p:cNvSpPr/>
          <p:nvPr/>
        </p:nvSpPr>
        <p:spPr>
          <a:xfrm>
            <a:off x="548640" y="3026664"/>
            <a:ext cx="5440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3A1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EXPERIMENTAL BENCHMARK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548640" y="3319145"/>
          <a:ext cx="5440680" cy="2581275"/>
        </p:xfrm>
        <a:graphic>
          <a:graphicData uri="http://schemas.openxmlformats.org/drawingml/2006/table">
            <a:tbl>
              <a:tblPr/>
              <a:tblGrid>
                <a:gridCol w="1783080"/>
                <a:gridCol w="2148840"/>
                <a:gridCol w="1508760"/>
              </a:tblGrid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E162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Performance Metric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162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Measured System Output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E162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Defense Target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D700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9EDF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Deployment Mode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E67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 Offline (Air-Gapped)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EDF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Air-Gapped Network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E3D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9EDF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Avg Inference Latency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E67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3,427.13 ms (~3.4 sec)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EDF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 10,000 ms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0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9EDF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Verified Build Pass Rate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E67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100.0% (3/3 Verified)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EDF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E3D"/>
                    </a:solidFill>
                  </a:tcPr>
                </a:tc>
              </a:tr>
              <a:tr h="6108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9EDF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Hardware Dependency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E67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Single GPU (RTX 4060 Ti)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9EDF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Lightweight Edge Server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2230"/>
                    </a:solidFill>
                  </a:tcPr>
                </a:tc>
              </a:tr>
            </a:tbl>
          </a:graphicData>
        </a:graphic>
      </p:graphicFrame>
      <p:sp>
        <p:nvSpPr>
          <p:cNvPr id="26" name="Text 19"/>
          <p:cNvSpPr/>
          <p:nvPr/>
        </p:nvSpPr>
        <p:spPr>
          <a:xfrm>
            <a:off x="6172200" y="3026664"/>
            <a:ext cx="5440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3A1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PROOF CAPTURE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172200" y="3319272"/>
            <a:ext cx="5440680" cy="2587752"/>
          </a:xfrm>
          <a:prstGeom prst="roundRect">
            <a:avLst>
              <a:gd name="adj" fmla="val 2827"/>
            </a:avLst>
          </a:prstGeom>
          <a:solidFill>
            <a:srgbClr val="162230"/>
          </a:solidFill>
          <a:ln w="19050">
            <a:solidFill>
              <a:srgbClr val="B8960A"/>
            </a:solidFill>
            <a:prstDash val="dash"/>
          </a:ln>
        </p:spPr>
      </p:sp>
      <p:sp>
        <p:nvSpPr>
          <p:cNvPr id="28" name="Shape 21"/>
          <p:cNvSpPr/>
          <p:nvPr/>
        </p:nvSpPr>
        <p:spPr>
          <a:xfrm>
            <a:off x="8572500" y="3776472"/>
            <a:ext cx="640080" cy="640080"/>
          </a:xfrm>
          <a:prstGeom prst="ellipse">
            <a:avLst/>
          </a:prstGeom>
          <a:solidFill>
            <a:srgbClr val="1F2E3D"/>
          </a:solidFill>
        </p:spPr>
      </p:sp>
      <p:pic>
        <p:nvPicPr>
          <p:cNvPr id="29" name="Image 4" descr="/home/claude/aikavach/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393649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1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11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765" y="3291205"/>
            <a:ext cx="5541645" cy="2677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D7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DELIVERABLES &amp; INTEGRATION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Deliverables &amp; Integration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62230"/>
          </a:solidFill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6" name="Image 0" descr="/home/claude/aikavach/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8962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9656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Expected Outcomes &amp; Deliverables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functional PoC Python orchestration pipeline (defense_engine.py)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Deployable offline AI inference configuration for field workstations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compilation verification harness for production-ready fixes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02336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162230"/>
          </a:solidFill>
        </p:spPr>
      </p:sp>
      <p:sp>
        <p:nvSpPr>
          <p:cNvPr id="10" name="Shape 7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B8960A"/>
          </a:solidFill>
        </p:spPr>
      </p:sp>
      <p:pic>
        <p:nvPicPr>
          <p:cNvPr id="11" name="Image 1" descr="/home/claude/aikavach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17" y="441083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334256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Prototype Readiness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68680" y="4892040"/>
            <a:ext cx="47091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Operational PoC benchmarked live with 100% pass rates across standard vulnerability test suites.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68680" y="5532120"/>
            <a:ext cx="1447800" cy="685800"/>
          </a:xfrm>
          <a:prstGeom prst="roundRect">
            <a:avLst>
              <a:gd name="adj" fmla="val 8000"/>
            </a:avLst>
          </a:prstGeom>
          <a:solidFill>
            <a:srgbClr val="1F2E3D"/>
          </a:solidFill>
        </p:spPr>
      </p:sp>
      <p:sp>
        <p:nvSpPr>
          <p:cNvPr id="15" name="Text 11"/>
          <p:cNvSpPr/>
          <p:nvPr/>
        </p:nvSpPr>
        <p:spPr>
          <a:xfrm>
            <a:off x="868680" y="5605272"/>
            <a:ext cx="1447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E67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CWE-120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68680" y="5897880"/>
            <a:ext cx="1447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1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Buffer Overflow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499360" y="5532120"/>
            <a:ext cx="1447800" cy="685800"/>
          </a:xfrm>
          <a:prstGeom prst="roundRect">
            <a:avLst>
              <a:gd name="adj" fmla="val 8000"/>
            </a:avLst>
          </a:prstGeom>
          <a:solidFill>
            <a:srgbClr val="1F2E3D"/>
          </a:solidFill>
        </p:spPr>
      </p:sp>
      <p:sp>
        <p:nvSpPr>
          <p:cNvPr id="18" name="Text 14"/>
          <p:cNvSpPr/>
          <p:nvPr/>
        </p:nvSpPr>
        <p:spPr>
          <a:xfrm>
            <a:off x="2499360" y="5605272"/>
            <a:ext cx="1447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E67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CWE-476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2499360" y="5897880"/>
            <a:ext cx="1447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1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 Pointer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130040" y="5532120"/>
            <a:ext cx="1447800" cy="685800"/>
          </a:xfrm>
          <a:prstGeom prst="roundRect">
            <a:avLst>
              <a:gd name="adj" fmla="val 8000"/>
            </a:avLst>
          </a:prstGeom>
          <a:solidFill>
            <a:srgbClr val="1F2E3D"/>
          </a:solidFill>
        </p:spPr>
      </p:sp>
      <p:sp>
        <p:nvSpPr>
          <p:cNvPr id="21" name="Text 17"/>
          <p:cNvSpPr/>
          <p:nvPr/>
        </p:nvSpPr>
        <p:spPr>
          <a:xfrm>
            <a:off x="4130040" y="5605272"/>
            <a:ext cx="1447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E67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CWE-134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130040" y="5897880"/>
            <a:ext cx="1447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1A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String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080760" y="15087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162230"/>
          </a:solidFill>
        </p:spPr>
      </p:sp>
      <p:sp>
        <p:nvSpPr>
          <p:cNvPr id="24" name="Shape 20"/>
          <p:cNvSpPr/>
          <p:nvPr/>
        </p:nvSpPr>
        <p:spPr>
          <a:xfrm>
            <a:off x="6355080" y="1783080"/>
            <a:ext cx="502920" cy="502920"/>
          </a:xfrm>
          <a:prstGeom prst="ellipse">
            <a:avLst/>
          </a:prstGeom>
          <a:solidFill>
            <a:srgbClr val="0B7A45"/>
          </a:solidFill>
        </p:spPr>
      </p:sp>
      <p:pic>
        <p:nvPicPr>
          <p:cNvPr id="25" name="Image 2" descr="/home/claude/aikavach/r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237" y="1896237"/>
            <a:ext cx="276606" cy="27660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95160" y="1819656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Defense Integration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6675120" y="3108960"/>
            <a:ext cx="0" cy="1280160"/>
          </a:xfrm>
          <a:prstGeom prst="line">
            <a:avLst/>
          </a:prstGeom>
          <a:noFill/>
          <a:ln w="25400">
            <a:solidFill>
              <a:srgbClr val="1F2E3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46520" y="2560320"/>
            <a:ext cx="457200" cy="457200"/>
          </a:xfrm>
          <a:prstGeom prst="ellipse">
            <a:avLst/>
          </a:prstGeom>
          <a:solidFill>
            <a:srgbClr val="B8960A"/>
          </a:solidFill>
        </p:spPr>
      </p:sp>
      <p:pic>
        <p:nvPicPr>
          <p:cNvPr id="29" name="Image 3" descr="/home/claude/aikavach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266319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86600" y="2542032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7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Pre-Commit Hook Integration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086600" y="2871216"/>
            <a:ext cx="41605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 into defense repository CI/CD pipelines to audit code before deployment.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675120" y="4937760"/>
            <a:ext cx="0" cy="1280160"/>
          </a:xfrm>
          <a:prstGeom prst="line">
            <a:avLst/>
          </a:prstGeom>
          <a:noFill/>
          <a:ln w="25400">
            <a:solidFill>
              <a:srgbClr val="1F2E3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446520" y="4389120"/>
            <a:ext cx="457200" cy="457200"/>
          </a:xfrm>
          <a:prstGeom prst="ellipse">
            <a:avLst/>
          </a:prstGeom>
          <a:solidFill>
            <a:srgbClr val="B8960A"/>
          </a:solidFill>
        </p:spPr>
      </p:sp>
      <p:pic>
        <p:nvPicPr>
          <p:cNvPr id="34" name="Image 4" descr="/home/claude/aikavach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90" y="4491990"/>
            <a:ext cx="251460" cy="2514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086600" y="4370832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D7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Extended Multi-Language Coverage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7086600" y="4700016"/>
            <a:ext cx="416052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9EDF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Broaden reasoning models to support Rust, C++, and embedded assembly for tactical electronic systems.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3A1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3569</Words>
  <Application>WPS Presentation</Application>
  <PresentationFormat>On-screen Show (16:9)</PresentationFormat>
  <Paragraphs>206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Arial</vt:lpstr>
      <vt:lpstr>Arial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Kavach - Terrier Cyber Quest 2026</dc:title>
  <dc:creator>AI Kavach Team</dc:creator>
  <dc:subject>PptxGenJS Presentation</dc:subject>
  <cp:lastModifiedBy>K.MOHAN SIVA GANESH</cp:lastModifiedBy>
  <cp:revision>3</cp:revision>
  <dcterms:created xsi:type="dcterms:W3CDTF">2026-08-15T12:50:00Z</dcterms:created>
  <dcterms:modified xsi:type="dcterms:W3CDTF">2026-08-15T13:27:47Z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E5D48C4D2C4E4F6FBA6D4BC9B8869E7F_12</vt:lpwstr>
  </property>
  <property fmtid="{D5CDD505-2E9C-101B-9397-08002B2CF9AE}" pid="3" name="KSOProductBuildVer">
    <vt:lpwstr>1033-12.1.0.28032</vt:lpwstr>
  </property>
</Properties>
</file>